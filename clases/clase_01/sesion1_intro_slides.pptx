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28600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riesgo, hecho número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— FRECUENCIA Y SEVERIDAD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Introducción al seguro de daños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14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entender de qué trata todo esto — y dejar tu entorno de trabajo listo.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es el seguro?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Mutualizar el riesgo: muchos aportan, pocos cobran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32888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099816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666744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5349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(pagan prima)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2157984"/>
            <a:ext cx="2148840" cy="1399032"/>
          </a:xfrm>
          <a:prstGeom prst="line">
            <a:avLst/>
          </a:prstGeom>
          <a:noFill/>
          <a:ln w="12700">
            <a:solidFill>
              <a:srgbClr val="3A4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724912"/>
            <a:ext cx="2148840" cy="832104"/>
          </a:xfrm>
          <a:prstGeom prst="line">
            <a:avLst/>
          </a:prstGeom>
          <a:noFill/>
          <a:ln w="12700">
            <a:solidFill>
              <a:srgbClr val="3A4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3291840"/>
            <a:ext cx="2148840" cy="265176"/>
          </a:xfrm>
          <a:prstGeom prst="line">
            <a:avLst/>
          </a:prstGeom>
          <a:noFill/>
          <a:ln w="12700">
            <a:solidFill>
              <a:srgbClr val="3A4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3858768"/>
            <a:ext cx="2148840" cy="-301752"/>
          </a:xfrm>
          <a:prstGeom prst="line">
            <a:avLst/>
          </a:prstGeom>
          <a:noFill/>
          <a:ln w="12700">
            <a:solidFill>
              <a:srgbClr val="3A4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425696"/>
            <a:ext cx="2148840" cy="-868680"/>
          </a:xfrm>
          <a:prstGeom prst="line">
            <a:avLst/>
          </a:prstGeom>
          <a:noFill/>
          <a:ln w="12700">
            <a:solidFill>
              <a:srgbClr val="3A4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4992624"/>
            <a:ext cx="2148840" cy="-1435608"/>
          </a:xfrm>
          <a:prstGeom prst="line">
            <a:avLst/>
          </a:prstGeom>
          <a:noFill/>
          <a:ln w="12700">
            <a:solidFill>
              <a:srgbClr val="3A4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74320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17A69B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063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Fondo común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29000" y="3611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primas se juntan aquí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566160"/>
            <a:ext cx="914400" cy="0"/>
          </a:xfrm>
          <a:prstGeom prst="line">
            <a:avLst/>
          </a:prstGeom>
          <a:noFill/>
          <a:ln w="19050">
            <a:solidFill>
              <a:srgbClr val="A9B6D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288036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374904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30632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pocos que sufren un siniestro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 del fondo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es el precio de transferir tu riesgo al fondo. El actuario calcula ese precio para que el fondo alcance.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Seguro de daños vs. de personas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este curso, y en qué ramos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médicos mayores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personales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es la persona: su sobrevivencia o su salud.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Daños  (este curso)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civil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Marítimo y transportes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Agrícola y animales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Catastróficos</a:t>
            </a:r>
            <a:endParaRPr lang="en-US" sz="14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vocabulario del curso (1/2)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montamos sobre un ejemplo de auto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719072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71907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entre asegurado y aseguradora.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56032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560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transfiere su riesgo (el dueño del auto).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3401568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63040" y="3401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paga el asegurado por la cobertura.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4440" y="4242816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424281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asegurada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máximo que paga la aseguradora (p. ej. el valor del auto).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34440" y="5084064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63040" y="5084064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siniestros están protegidos (choque, robo…).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vocabulario del curso (2/2)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más usaremos al calcular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719072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71907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cubierto que ocurre (el choque).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56032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560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Deducible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absorbe el asegurado antes de que pague la aseguradora.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3401568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63040" y="3401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Coaseguro / franquicia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formas de repartir o condicionar el pago.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4C7FD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4440" y="4242816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424281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que se aparta para siniestros que aún no se pagan.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34440" y="5084064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63040" y="5084064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Reaseguro  —  </a:t>
            </a:r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seguro de la aseguradora para los siniestros enormes.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vida de un siniestro — “la llamada”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 ocurre hasta que se paga (o se reserva)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Ocurre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sucede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27832" y="2194560"/>
            <a:ext cx="292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02152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7A69B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reporta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02152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llamada”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9904" y="2194560"/>
            <a:ext cx="292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64224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64224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ajusta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4224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valúa el monto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51976" y="2194560"/>
            <a:ext cx="2926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226296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26296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paga / reserva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26296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liquida o se aparta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llamadas entran?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FRECUENCIA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800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siniestros ocurren en la cartera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cada una?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SEVERIDAD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4800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de cada siniestro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ahí sale la prima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y severidad son las dos piezas del pricing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2377440"/>
            <a:ext cx="7772400" cy="1737360"/>
          </a:xfrm>
          <a:prstGeom prst="roundRect">
            <a:avLst>
              <a:gd name="adj" fmla="val 421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94560" y="2697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 pura </a:t>
            </a:r>
            <a:pPr algn="ctr" indent="0" marL="0">
              <a:buNone/>
            </a:pPr>
            <a:r>
              <a:rPr lang="en-US" sz="3000" b="1" dirty="0">
                <a:solidFill>
                  <a:srgbClr val="A9B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</a:t>
            </a:r>
            <a:pPr algn="ctr" indent="0" marL="0">
              <a:buNone/>
            </a:pPr>
            <a:r>
              <a:rPr lang="en-US" sz="30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Frecuencia </a:t>
            </a:r>
            <a:pPr algn="ctr" indent="0" marL="0">
              <a:buNone/>
            </a:pPr>
            <a:r>
              <a:rPr lang="en-US" sz="3000" b="1" dirty="0">
                <a:solidFill>
                  <a:srgbClr val="A9B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 </a:t>
            </a:r>
            <a:pPr algn="ctr" indent="0" marL="0">
              <a:buNone/>
            </a:pPr>
            <a:r>
              <a:rPr lang="en-US" sz="30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Severidad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456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siniestros  ×  cuánto cuesta cada uno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2 empezamos por la severidad; la frecuencia viene después. Todo el curso cuelga de esta idea.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gana (o pierde) una aseguradora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 completa del negocio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7A69B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cobra por las pólizas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8288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C0504D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Siniestros + gastos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paga y le cuesta operar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18288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686800" y="182880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 técnico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fondo alcanzó?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eso hacen falta reservas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siniestros no se pagan al instante: hay que apartar dinero para los que siguen abiertos.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1148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...y reaseguro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siniestro enorme puede quebrar el fondo: se transfiere parte del riesgo a un reasegurador.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Quién vigila: la CNSF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tres documentos que ustedes van a entregar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21208" y="1508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México, la Comisión Nacional de Seguros y Fianzas (CNSF) regula el sector con la LISF y la CUSF. Un producto no se vende sin documentación técnica registrada.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3639312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7744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Nota técnica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las primas.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6552" y="2377440"/>
            <a:ext cx="3639312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37744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4C7FD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45059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Método de reservas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3291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aparta y cómo.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30184" y="2377440"/>
            <a:ext cx="3639312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377440"/>
            <a:ext cx="3639312" cy="658368"/>
          </a:xfrm>
          <a:prstGeom prst="roundRect">
            <a:avLst>
              <a:gd name="adj" fmla="val 11111"/>
            </a:avLst>
          </a:prstGeom>
          <a:solidFill>
            <a:srgbClr val="C05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245059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Esquema de reaseguro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04504" y="3291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riesgo se transfiere.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proyecto: el trabajo real de un actuario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haciendo un producto de verdad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498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Trabajarán en equipos (máximo 6) como el área técnica de una aseguradora.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desarrollará un producto nuevo y entregará esos tres documentos + una presentación ejecutiva ante “la dirección”.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elegirá un ramo distinto (autos, hogar, gastos médicos, marítimo…).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del ramo la haremos pronto — hoy todavía 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0" y="192024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26517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4C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reservas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reaseguro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Ahora: dejemos tu entorno listo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instalar y configurar juntos las herramientas con las que trabajaremos todo el semestre.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vamos a montar hoy?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pasos, uno a uno, en tu computadora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331720"/>
            <a:ext cx="640080" cy="64008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VS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43784" y="201168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331720"/>
            <a:ext cx="640080" cy="640080"/>
          </a:xfrm>
          <a:prstGeom prst="ellipse">
            <a:avLst/>
          </a:prstGeom>
          <a:solidFill>
            <a:srgbClr val="4C7FD1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43784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Python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80944" y="3931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Anaconda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84648" y="201168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61888" y="2331720"/>
            <a:ext cx="640080" cy="640080"/>
          </a:xfrm>
          <a:prstGeom prst="ellipse">
            <a:avLst/>
          </a:prstGeom>
          <a:solidFill>
            <a:srgbClr val="E8873C"/>
          </a:solidFill>
          <a:ln/>
        </p:spPr>
      </p:sp>
      <p:sp>
        <p:nvSpPr>
          <p:cNvPr id="17" name="Text 15"/>
          <p:cNvSpPr/>
          <p:nvPr/>
        </p:nvSpPr>
        <p:spPr>
          <a:xfrm>
            <a:off x="5961888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4648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21808" y="3931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el repo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25512" y="201168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2331720"/>
            <a:ext cx="640080" cy="64008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5512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Ambiente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MASDFR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2672" y="3931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librerías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66376" y="2011680"/>
            <a:ext cx="2194560" cy="3017520"/>
          </a:xfrm>
          <a:prstGeom prst="roundRect">
            <a:avLst>
              <a:gd name="adj" fmla="val 333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643616" y="2331720"/>
            <a:ext cx="640080" cy="640080"/>
          </a:xfrm>
          <a:prstGeom prst="ellipse">
            <a:avLst/>
          </a:prstGeom>
          <a:solidFill>
            <a:srgbClr val="17A69B"/>
          </a:solidFill>
          <a:ln/>
        </p:spPr>
      </p:sp>
      <p:sp>
        <p:nvSpPr>
          <p:cNvPr id="27" name="Text 25"/>
          <p:cNvSpPr/>
          <p:nvPr/>
        </p:nvSpPr>
        <p:spPr>
          <a:xfrm>
            <a:off x="10643616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66376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03536" y="3931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todo corra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Paso 1 — VS Code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donde escribiremos y correremos todo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VS Code desde code.visualstudio.com e instálalo (o ábrelo si ya lo tienes).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pestaña de Extensiones (Ctrl/Cmd + Shift + X).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la extensión Python (de Microsoft).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la extensión Jupyter (de Microsoft): nos deja correr notebooks dentro de VS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92024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6974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6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(opcional) Pylance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Paso 2 — Python (Anaconda)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Instalamos Python y el Anaconda Prompt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Anaconda desde anaconda.com/download e instálalo con las opciones por defecto.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Anaconda Prompt (Windows) o la Terminal (macOS/Linux).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que responde con el comando de la derecha.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aquí crearemos el ambiente del curso en el Paso 4.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92024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0A1428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2057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--version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24.x.x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3.x.x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Paso 3 — Git y el repositorio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Traemos el repositorio de trabajo del curso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Git desde git-scm.com si aún no lo tienes.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Anaconda Prompt, colócate donde quieras guardar el curso (por ejemplo, tu carpeta Documentos).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 el repositorio con el comando de la derecha.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pide contraseña, usa un Personal Access Token de GitHub (no tu contraseña).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92024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0A1428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8660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6600" y="246888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Documentos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\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Ericdaniel78/MASDFR_20271.git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MASDFR_20271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Paso 4 — El ambiente MASDFR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ambiente con todas las librerías del curso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 trae un archivo environment.yml con las librerías (numpy, pandas, scipy, matplotlib…).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Créalo con conda: descarga e instala todo de un golpe.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Actívalo: verás (MASDFR) al inicio de la línea.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Regístralo como kernel para poder elegirlo en los notebooks.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A1428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12280" y="242316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create -f environment.yml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MASDFR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ipykernel install \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--user --name MASDFR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(MASDFR) listo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Paso 5 — Verificar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todo corra antes de irnos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583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VS Code, abre la carpeta MASDFR_20271 (File → Open Folder).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notebook 00_verificacion.ipynb.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a la derecha, elige el kernel MASDFR.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todas las celdas (Run All): deben salir puras ✓ y una gráfica.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está en verde, tu entorno está listo para la Sesión 2.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98080" y="201168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2240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Deberías 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6974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 ✓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✓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  ✓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  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...y una gráfica de prueba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Introducción y entorno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Entorno listo — nos vemos en la Sesión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 entiendes el terreno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21031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seguro de daños, el vocabulario, la vida de un siniestro y el proyecto.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64408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4015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 tienes las herramientas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340156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Python, Git y el ambiente MASDFR funcionando.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562856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70001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Próxima sesión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4700016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¿cuánto cuesta un siniestro? — el primer ladrillo del pricing.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cada equipo irá pensando en qué ramo quiere trabajar.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2026-08-14T19:45:57Z</dcterms:created>
  <dcterms:modified xsi:type="dcterms:W3CDTF">2026-08-14T19:45:57Z</dcterms:modified>
</cp:coreProperties>
</file>