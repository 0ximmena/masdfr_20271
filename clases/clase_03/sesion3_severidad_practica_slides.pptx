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E3D"/>
          </a:solidFill>
          <a:ln/>
        </p:spPr>
      </p:sp>
      <p:sp>
        <p:nvSpPr>
          <p:cNvPr id="3" name="Shape 1"/>
          <p:cNvSpPr/>
          <p:nvPr/>
        </p:nvSpPr>
        <p:spPr>
          <a:xfrm>
            <a:off x="7818120" y="777240"/>
            <a:ext cx="3886200" cy="5257800"/>
          </a:xfrm>
          <a:prstGeom prst="roundRect">
            <a:avLst>
              <a:gd name="adj" fmla="val 1882"/>
            </a:avLst>
          </a:prstGeom>
          <a:solidFill>
            <a:srgbClr val="263B6E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pic>
        <p:nvPicPr>
          <p:cNvPr id="4" name="Image 0" descr="curve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0" y="2286000"/>
            <a:ext cx="3337560" cy="2194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818120" y="461772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severidad, transformada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40080" y="82296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7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1 · SEVERIDAD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94360" y="141732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Sesión 3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621792" y="2331720"/>
            <a:ext cx="7040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A69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Severidad en la práctica: el ramo y las transformaciones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40080" y="338328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Matemáticas Actuariales para Seguro de Daños, Fianzas y Reaseguro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40080" y="425196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severidad que modelas no es la cruda: el ramo la ubica y la póliza la transforma.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40080" y="585216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Facultad de Ciencias · UNAM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E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La severidad que modelas no es la cruda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21208" y="987552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del laboratorio, el contexto del ajuste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10972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sesión anterior vimos la severidad como variable aleatoria y por qué manda la cola.</a:t>
            </a:r>
            <a:endParaRPr lang="en-US" sz="170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Pero en la práctica casi nunca modelas la severidad “cruda” (ground-up, el monto real del daño).</a:t>
            </a:r>
            <a:endParaRPr lang="en-US" sz="170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cosas la condicionan: el RAMO —en qué escala y con qué cola vive— y la PÓLIZA —deducible, límite, coaseguro.</a:t>
            </a:r>
            <a:endParaRPr lang="en-US" sz="170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Hoy: cómo se ve la severidad tal como te llega, y qué implica eso para modelarla y tarificarla.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02920" y="6455664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MASDFR · Semana 1 · Sesión 3 — Severidad en la práctica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881360" y="6455664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E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La severidad cambia entre ramos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21208" y="987552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Distinta escala y distinta cola → distinto rango razonable</a:t>
            </a:r>
            <a:endParaRPr lang="en-US" sz="1500" dirty="0"/>
          </a:p>
        </p:txBody>
      </p:sp>
      <p:pic>
        <p:nvPicPr>
          <p:cNvPr id="5" name="Image 0" descr="s3_ram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828800"/>
            <a:ext cx="5175458" cy="3200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126480" y="1874520"/>
            <a:ext cx="55778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Autos: montos chicos y cola relativamente ligera (muchos siniestros pequeños).</a:t>
            </a:r>
            <a:endParaRPr lang="en-US" sz="150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Incendio, responsabilidad civil, marítimo: escalas mayores y colas más pesadas.</a:t>
            </a:r>
            <a:endParaRPr lang="en-US" sz="150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ramo define en qué rango es razonable simular: un siniestro de auto no vive donde uno marítimo.</a:t>
            </a:r>
            <a:endParaRPr lang="en-US" sz="150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Elegir mal el rango o la cola = simular montos absurdos y tarificar mal.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02920" y="6455664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MASDFR · Semana 1 · Sesión 3 — Severidad en la práctica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0881360" y="6455664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E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Lo que la póliza le hace a la severidad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21208" y="987552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transformaciones que cambian lo que la aseguradora paga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" y="1965960"/>
            <a:ext cx="2670048" cy="3200400"/>
          </a:xfrm>
          <a:prstGeom prst="roundRect">
            <a:avLst>
              <a:gd name="adj" fmla="val 2740"/>
            </a:avLst>
          </a:prstGeom>
          <a:solidFill>
            <a:srgbClr val="1C2E56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965960"/>
            <a:ext cx="2670048" cy="566928"/>
          </a:xfrm>
          <a:prstGeom prst="roundRect">
            <a:avLst>
              <a:gd name="adj" fmla="val 12903"/>
            </a:avLst>
          </a:prstGeom>
          <a:solidFill>
            <a:srgbClr val="17A69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002536"/>
            <a:ext cx="239572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Deducible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2920" y="2697480"/>
            <a:ext cx="2670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7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corta por abajo</a:t>
            </a:r>
            <a:endParaRPr lang="en-US" sz="1300" dirty="0"/>
          </a:p>
        </p:txBody>
      </p:sp>
      <p:pic>
        <p:nvPicPr>
          <p:cNvPr id="9" name="Image 0" descr="s3_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719" y="3383280"/>
            <a:ext cx="2478449" cy="41148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3392424" y="1965960"/>
            <a:ext cx="2670048" cy="3200400"/>
          </a:xfrm>
          <a:prstGeom prst="roundRect">
            <a:avLst>
              <a:gd name="adj" fmla="val 2740"/>
            </a:avLst>
          </a:prstGeom>
          <a:solidFill>
            <a:srgbClr val="1C2E56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392424" y="1965960"/>
            <a:ext cx="2670048" cy="566928"/>
          </a:xfrm>
          <a:prstGeom prst="roundRect">
            <a:avLst>
              <a:gd name="adj" fmla="val 12903"/>
            </a:avLst>
          </a:prstGeom>
          <a:solidFill>
            <a:srgbClr val="E8873C"/>
          </a:solidFill>
          <a:ln/>
        </p:spPr>
      </p:sp>
      <p:sp>
        <p:nvSpPr>
          <p:cNvPr id="12" name="Text 9"/>
          <p:cNvSpPr/>
          <p:nvPr/>
        </p:nvSpPr>
        <p:spPr>
          <a:xfrm>
            <a:off x="3529584" y="2002536"/>
            <a:ext cx="239572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Límite / suma asegurada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3392424" y="2697480"/>
            <a:ext cx="2670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E88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corta por arriba</a:t>
            </a:r>
            <a:endParaRPr lang="en-US" sz="1300" dirty="0"/>
          </a:p>
        </p:txBody>
      </p:sp>
      <p:pic>
        <p:nvPicPr>
          <p:cNvPr id="14" name="Image 1" descr="s3_li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4872" y="3383280"/>
            <a:ext cx="1885153" cy="41148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6281928" y="1965960"/>
            <a:ext cx="2670048" cy="3200400"/>
          </a:xfrm>
          <a:prstGeom prst="roundRect">
            <a:avLst>
              <a:gd name="adj" fmla="val 2740"/>
            </a:avLst>
          </a:prstGeom>
          <a:solidFill>
            <a:srgbClr val="1C2E56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281928" y="1965960"/>
            <a:ext cx="2670048" cy="566928"/>
          </a:xfrm>
          <a:prstGeom prst="roundRect">
            <a:avLst>
              <a:gd name="adj" fmla="val 12903"/>
            </a:avLst>
          </a:prstGeom>
          <a:solidFill>
            <a:srgbClr val="4C7FD1"/>
          </a:solidFill>
          <a:ln/>
        </p:spPr>
      </p:sp>
      <p:sp>
        <p:nvSpPr>
          <p:cNvPr id="17" name="Text 13"/>
          <p:cNvSpPr/>
          <p:nvPr/>
        </p:nvSpPr>
        <p:spPr>
          <a:xfrm>
            <a:off x="6419088" y="2002536"/>
            <a:ext cx="239572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Coaseguro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6281928" y="2697480"/>
            <a:ext cx="2670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4C7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el pago</a:t>
            </a:r>
            <a:endParaRPr lang="en-US" sz="1300" dirty="0"/>
          </a:p>
        </p:txBody>
      </p:sp>
      <p:pic>
        <p:nvPicPr>
          <p:cNvPr id="19" name="Image 2" descr="s3_co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2871" y="3383280"/>
            <a:ext cx="2628163" cy="411480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9171432" y="1965960"/>
            <a:ext cx="2670048" cy="3200400"/>
          </a:xfrm>
          <a:prstGeom prst="roundRect">
            <a:avLst>
              <a:gd name="adj" fmla="val 2740"/>
            </a:avLst>
          </a:prstGeom>
          <a:solidFill>
            <a:srgbClr val="1C2E56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171432" y="1965960"/>
            <a:ext cx="2670048" cy="566928"/>
          </a:xfrm>
          <a:prstGeom prst="roundRect">
            <a:avLst>
              <a:gd name="adj" fmla="val 12903"/>
            </a:avLst>
          </a:prstGeom>
          <a:solidFill>
            <a:srgbClr val="C0504D"/>
          </a:solidFill>
          <a:ln/>
        </p:spPr>
      </p:sp>
      <p:sp>
        <p:nvSpPr>
          <p:cNvPr id="22" name="Text 17"/>
          <p:cNvSpPr/>
          <p:nvPr/>
        </p:nvSpPr>
        <p:spPr>
          <a:xfrm>
            <a:off x="9308592" y="2002536"/>
            <a:ext cx="239572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Reaseguro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9171432" y="2697480"/>
            <a:ext cx="2670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corta la cola (Tema 5)</a:t>
            </a:r>
            <a:endParaRPr lang="en-US" sz="1300" dirty="0"/>
          </a:p>
        </p:txBody>
      </p:sp>
      <p:pic>
        <p:nvPicPr>
          <p:cNvPr id="24" name="Image 3" descr="s3_r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57367" y="3383280"/>
            <a:ext cx="2698178" cy="41148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48640" y="534924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una cambia la severidad OBSERVADA — no la del daño real.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502920" y="6455664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MASDFR · Semana 1 · Sesión 3 — Severidad en la práctica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0881360" y="6455664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E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Deducible: corta por abajo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21208" y="987552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asegurado absorbe los primeros d</a:t>
            </a:r>
            <a:endParaRPr lang="en-US" sz="1500" dirty="0"/>
          </a:p>
        </p:txBody>
      </p:sp>
      <p:pic>
        <p:nvPicPr>
          <p:cNvPr id="5" name="Image 0" descr="s3_deducib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828800"/>
            <a:ext cx="5110673" cy="3108960"/>
          </a:xfrm>
          <a:prstGeom prst="rect">
            <a:avLst/>
          </a:prstGeom>
        </p:spPr>
      </p:pic>
      <p:pic>
        <p:nvPicPr>
          <p:cNvPr id="6" name="Image 1" descr="s3_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965960"/>
            <a:ext cx="2753833" cy="4572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309360" y="2697480"/>
            <a:ext cx="5394960" cy="1234440"/>
          </a:xfrm>
          <a:prstGeom prst="roundRect">
            <a:avLst>
              <a:gd name="adj" fmla="val 5926"/>
            </a:avLst>
          </a:prstGeom>
          <a:solidFill>
            <a:srgbClr val="1C2E56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6537960" y="2697480"/>
            <a:ext cx="50292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Censura: </a:t>
            </a:r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sabes que hubo siniestro, pero el pago es max(X − d, 0).</a:t>
            </a:r>
            <a:endParaRPr lang="en-US" sz="1450" dirty="0"/>
          </a:p>
        </p:txBody>
      </p:sp>
      <p:sp>
        <p:nvSpPr>
          <p:cNvPr id="9" name="Shape 5"/>
          <p:cNvSpPr/>
          <p:nvPr/>
        </p:nvSpPr>
        <p:spPr>
          <a:xfrm>
            <a:off x="6309360" y="406908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1C2E56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6537960" y="4069080"/>
            <a:ext cx="50292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Truncamiento: </a:t>
            </a:r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los siniestros menores a d no se reportan, ni siquiera los ves → tu muestra queda sesgada.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502920" y="6455664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MASDFR · Semana 1 · Sesión 3 — Severidad en la práctica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0881360" y="6455664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E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Truncamiento vs. censura — el punto fino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21208" y="987552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cosas distintas que la póliza le hace a tus datos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" y="1737360"/>
            <a:ext cx="5532120" cy="3931920"/>
          </a:xfrm>
          <a:prstGeom prst="roundRect">
            <a:avLst>
              <a:gd name="adj" fmla="val 1860"/>
            </a:avLst>
          </a:prstGeom>
          <a:solidFill>
            <a:srgbClr val="1C2E56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9659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0504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Truncamiento (por la izquierda)</a:t>
            </a:r>
            <a:endParaRPr lang="en-US" sz="1800" dirty="0"/>
          </a:p>
        </p:txBody>
      </p:sp>
      <p:pic>
        <p:nvPicPr>
          <p:cNvPr id="7" name="Image 0" descr="s3_trun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51482" y="2651760"/>
            <a:ext cx="3025852" cy="56692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3429000"/>
            <a:ext cx="49834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observas los siniestros con X &gt; d; los menores no existen en tus datos.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Debes ajustar con la densidad condicional f(x)/S(d), no con f(x).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Ignorarlo infla la media y sesga la cola.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172200" y="1737360"/>
            <a:ext cx="5532120" cy="3931920"/>
          </a:xfrm>
          <a:prstGeom prst="roundRect">
            <a:avLst>
              <a:gd name="adj" fmla="val 1860"/>
            </a:avLst>
          </a:prstGeom>
          <a:solidFill>
            <a:srgbClr val="1C2E56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446520" y="19659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873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Censura (por la derecha)</a:t>
            </a:r>
            <a:endParaRPr lang="en-US" sz="1800" dirty="0"/>
          </a:p>
        </p:txBody>
      </p:sp>
      <p:pic>
        <p:nvPicPr>
          <p:cNvPr id="11" name="Image 1" descr="s3_cen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8304" y="2606040"/>
            <a:ext cx="2450767" cy="65836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446520" y="3429000"/>
            <a:ext cx="49834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Observas min(X, L): los que exceden L aparecen “amontonados” en L.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verosimilitud es mixta: densidad para los pagos &lt; L y masa S(L) para los que topan.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el efecto del límite o la suma asegurada.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502920" y="6455664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MASDFR · Semana 1 · Sesión 3 — Severidad en la práctica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10881360" y="6455664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E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Límite y suma asegurada: censura por la derecha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21208" y="987552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aseguradora paga a lo más L</a:t>
            </a:r>
            <a:endParaRPr lang="en-US" sz="1500" dirty="0"/>
          </a:p>
        </p:txBody>
      </p:sp>
      <p:pic>
        <p:nvPicPr>
          <p:cNvPr id="5" name="Image 0" descr="s3_lim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828800"/>
            <a:ext cx="6024841" cy="3108960"/>
          </a:xfrm>
          <a:prstGeom prst="rect">
            <a:avLst/>
          </a:prstGeom>
        </p:spPr>
      </p:pic>
      <p:pic>
        <p:nvPicPr>
          <p:cNvPr id="6" name="Image 1" descr="s3_li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965960"/>
            <a:ext cx="2094614" cy="4572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309360" y="2697480"/>
            <a:ext cx="53949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pago es min(X, L): todo lo que exceda la suma asegurada se topa en L.</a:t>
            </a:r>
            <a:endParaRPr lang="en-US" sz="150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probabilidad P(X &gt; L) se acumula como una masa puntual en L (censura).</a:t>
            </a:r>
            <a:endParaRPr lang="en-US" sz="150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prima con límite es la esperanza limitada — la que ya vimos:</a:t>
            </a:r>
            <a:endParaRPr lang="en-US" sz="1500" dirty="0"/>
          </a:p>
        </p:txBody>
      </p:sp>
      <p:pic>
        <p:nvPicPr>
          <p:cNvPr id="8" name="Image 2" descr="s3_lev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4892040"/>
            <a:ext cx="2426942" cy="38404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02920" y="6455664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MASDFR · Semana 1 · Sesión 3 — Severidad en la práctica</a:t>
            </a:r>
            <a:endParaRPr lang="en-US" sz="900" dirty="0"/>
          </a:p>
        </p:txBody>
      </p:sp>
      <p:sp>
        <p:nvSpPr>
          <p:cNvPr id="10" name="Text 5"/>
          <p:cNvSpPr/>
          <p:nvPr/>
        </p:nvSpPr>
        <p:spPr>
          <a:xfrm>
            <a:off x="10881360" y="6455664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E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Coaseguro y reaseguro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21208" y="987552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Escalar el pago, y cortar la cola desde arriba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5532120" cy="3749040"/>
          </a:xfrm>
          <a:prstGeom prst="roundRect">
            <a:avLst>
              <a:gd name="adj" fmla="val 1951"/>
            </a:avLst>
          </a:prstGeom>
          <a:solidFill>
            <a:srgbClr val="1C2E56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0574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4C7FD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Coaseguro</a:t>
            </a:r>
            <a:endParaRPr lang="en-US" sz="1900" dirty="0"/>
          </a:p>
        </p:txBody>
      </p:sp>
      <p:pic>
        <p:nvPicPr>
          <p:cNvPr id="7" name="Image 0" descr="s3_co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04318" y="2788920"/>
            <a:ext cx="2920181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3520440"/>
            <a:ext cx="49834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asegurado y la aseguradora comparten el pago en una proporción α.</a:t>
            </a:r>
            <a:endParaRPr lang="en-US" sz="145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la severidad observada; suele combinarse con el deducible.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172200" y="1828800"/>
            <a:ext cx="5532120" cy="3749040"/>
          </a:xfrm>
          <a:prstGeom prst="roundRect">
            <a:avLst>
              <a:gd name="adj" fmla="val 1951"/>
            </a:avLst>
          </a:prstGeom>
          <a:solidFill>
            <a:srgbClr val="1C2E56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446520" y="20574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0504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Reaseguro  (adelanto del Tema 5)</a:t>
            </a:r>
            <a:endParaRPr lang="en-US" sz="1900" dirty="0"/>
          </a:p>
        </p:txBody>
      </p:sp>
      <p:pic>
        <p:nvPicPr>
          <p:cNvPr id="11" name="Image 1" descr="s3_r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4700" y="2788920"/>
            <a:ext cx="2997976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446520" y="3520440"/>
            <a:ext cx="49834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exceso de pérdida con prioridad M: el reasegurador ve max(X − M, 0).</a:t>
            </a:r>
            <a:endParaRPr lang="en-US" sz="145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el mismo corte del deducible, pero por arriba y del lado del reasegurador: recorta la cola.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502920" y="6455664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MASDFR · Semana 1 · Sesión 3 — Severidad en la práctica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10881360" y="6455664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11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E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Por qué nos importa al modelar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21208" y="987552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lección que amarra todo</a:t>
            </a:r>
            <a:endParaRPr lang="en-US" sz="1500" dirty="0"/>
          </a:p>
        </p:txBody>
      </p:sp>
      <p:pic>
        <p:nvPicPr>
          <p:cNvPr id="5" name="Image 0" descr="s3_ses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828800"/>
            <a:ext cx="5260987" cy="3200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126480" y="1874520"/>
            <a:ext cx="55778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ajustas a datos que ya traen deducible y límite, ajustas la severidad TRANSFORMADA, no la del daño real.</a:t>
            </a:r>
            <a:endParaRPr lang="en-US" sz="150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tarificar bien —o para cambiar el deducible del producto— necesitas la severidad ground-up.</a:t>
            </a:r>
            <a:endParaRPr lang="en-US" sz="150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eso hay que modelar datos truncados y censurados, no crudos.</a:t>
            </a:r>
            <a:endParaRPr lang="en-US" sz="150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ajuste ingenuo (curva roja) queda sesgado: sobrestima los montos y deforma la cola.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02920" y="6455664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MASDFR · Semana 1 · Sesión 3 — Severidad en la práctica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0881360" y="6455664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11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E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No son supuestos: son cláusulas registradas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21208" y="987552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puente con la nota técnica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" y="1874520"/>
            <a:ext cx="7315200" cy="3749040"/>
          </a:xfrm>
          <a:prstGeom prst="roundRect">
            <a:avLst>
              <a:gd name="adj" fmla="val 1951"/>
            </a:avLst>
          </a:prstGeom>
          <a:solidFill>
            <a:srgbClr val="1C2E56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194560"/>
            <a:ext cx="66751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1200"/>
              </a:spcAft>
              <a:buNone/>
            </a:pP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deducible, el coaseguro, la suma asegurada y el esquema de reaseguro son cláusulas del producto.</a:t>
            </a:r>
            <a:endParaRPr lang="en-US" sz="1650" dirty="0"/>
          </a:p>
          <a:p>
            <a:pPr indent="0" marL="0">
              <a:lnSpc>
                <a:spcPct val="115000"/>
              </a:lnSpc>
              <a:spcAft>
                <a:spcPts val="1200"/>
              </a:spcAft>
              <a:buNone/>
            </a:pP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 documentadas en la nota técnica que se registra ante la CNSF (CUSF) — no son supuestos que el actuario inventa.</a:t>
            </a:r>
            <a:endParaRPr lang="en-US" sz="16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modelar, tus transformaciones deben ser consistentes con lo que el producto realmente ofrece y con lo registrado.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8046720" y="1874520"/>
            <a:ext cx="3639312" cy="3749040"/>
          </a:xfrm>
          <a:prstGeom prst="roundRect">
            <a:avLst>
              <a:gd name="adj" fmla="val 2010"/>
            </a:avLst>
          </a:prstGeom>
          <a:solidFill>
            <a:srgbClr val="263B6E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046720" y="2148840"/>
            <a:ext cx="36393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Cláusulas que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modelas y documentas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366760" y="3063240"/>
            <a:ext cx="31089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b="1" dirty="0">
                <a:solidFill>
                  <a:srgbClr val="17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Deducible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b="1" dirty="0">
                <a:solidFill>
                  <a:srgbClr val="4C7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Coaseguro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b="1" dirty="0">
                <a:solidFill>
                  <a:srgbClr val="E88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Suma asegurada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b="1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Reaseguro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2920" y="6455664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MASDFR · Semana 1 · Sesión 3 — Severidad en la práctica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881360" y="6455664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E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Al laboratorio: la Práctica A1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21208" y="987552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con criterio para ajustar la severidad de su ramo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457200" cy="457200"/>
          </a:xfrm>
          <a:prstGeom prst="ellipse">
            <a:avLst/>
          </a:prstGeom>
          <a:solidFill>
            <a:srgbClr val="17A69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188720" y="1755648"/>
            <a:ext cx="10469880" cy="530352"/>
          </a:xfrm>
          <a:prstGeom prst="roundRect">
            <a:avLst>
              <a:gd name="adj" fmla="val 13793"/>
            </a:avLst>
          </a:prstGeom>
          <a:solidFill>
            <a:srgbClr val="1C2E56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417320" y="1755648"/>
            <a:ext cx="10058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Ubicar el rango y la cola típica del ramo de su equipo.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2441448"/>
            <a:ext cx="457200" cy="457200"/>
          </a:xfrm>
          <a:prstGeom prst="ellipse">
            <a:avLst/>
          </a:prstGeom>
          <a:solidFill>
            <a:srgbClr val="17A69B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4414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188720" y="2414016"/>
            <a:ext cx="10469880" cy="530352"/>
          </a:xfrm>
          <a:prstGeom prst="roundRect">
            <a:avLst>
              <a:gd name="adj" fmla="val 13793"/>
            </a:avLst>
          </a:prstGeom>
          <a:solidFill>
            <a:srgbClr val="1C2E56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417320" y="2414016"/>
            <a:ext cx="10058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Ajustar la severidad (las candidatas de la sesión anterior).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48640" y="3099816"/>
            <a:ext cx="457200" cy="457200"/>
          </a:xfrm>
          <a:prstGeom prst="ellipse">
            <a:avLst/>
          </a:prstGeom>
          <a:solidFill>
            <a:srgbClr val="17A69B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0998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1188720" y="3072384"/>
            <a:ext cx="10469880" cy="530352"/>
          </a:xfrm>
          <a:prstGeom prst="roundRect">
            <a:avLst>
              <a:gd name="adj" fmla="val 13793"/>
            </a:avLst>
          </a:prstGeom>
          <a:solidFill>
            <a:srgbClr val="1C2E56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417320" y="3072384"/>
            <a:ext cx="10058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y visualizar el efecto de deducible, límite y coaseguro.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548640" y="3758184"/>
            <a:ext cx="457200" cy="457200"/>
          </a:xfrm>
          <a:prstGeom prst="ellipse">
            <a:avLst/>
          </a:prstGeom>
          <a:solidFill>
            <a:srgbClr val="17A69B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7581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1188720" y="3730752"/>
            <a:ext cx="10469880" cy="530352"/>
          </a:xfrm>
          <a:prstGeom prst="roundRect">
            <a:avLst>
              <a:gd name="adj" fmla="val 13793"/>
            </a:avLst>
          </a:prstGeom>
          <a:solidFill>
            <a:srgbClr val="1C2E56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417320" y="3730752"/>
            <a:ext cx="10058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Reportar cómo esas transformaciones mueven la prima.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548640" y="4416552"/>
            <a:ext cx="457200" cy="457200"/>
          </a:xfrm>
          <a:prstGeom prst="ellipse">
            <a:avLst/>
          </a:prstGeom>
          <a:solidFill>
            <a:srgbClr val="E8873C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44165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1188720" y="4389120"/>
            <a:ext cx="10469880" cy="530352"/>
          </a:xfrm>
          <a:prstGeom prst="roundRect">
            <a:avLst>
              <a:gd name="adj" fmla="val 13793"/>
            </a:avLst>
          </a:prstGeom>
          <a:solidFill>
            <a:srgbClr val="1C2E56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417320" y="4389120"/>
            <a:ext cx="10058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Distinguir siempre qué es dato crudo y qué es dato transformado.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1188720" y="5257800"/>
            <a:ext cx="10469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esto, el ajuste deja de ser “un histograma pelón”: entienden qué modelan y por qué.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02920" y="6455664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MASDFR · Semana 1 · Sesión 3 — Severidad en la práctica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881360" y="6455664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2026-08-16T19:13:13Z</dcterms:created>
  <dcterms:modified xsi:type="dcterms:W3CDTF">2026-08-16T19:13:13Z</dcterms:modified>
</cp:coreProperties>
</file>