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10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" name="Image 0" descr="curv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28600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— densidad de severidad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— FRECUENCIA Y SEVERIDAD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6545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</a:t>
            </a: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Severidad: ¿cuánto cuesta un siniestro?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148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la severidad como variable aleatoria, la forma de su distribución y por qué la cola lo decide todo.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¿Para qué modelamos la severidad?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entrada del pricing y el sustento de la nota técnica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curso es construir un producto y su nota técnica.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nace de dos piezas: cuántos siniestros (frecuencia) y cuánto cuesta cada uno (severidad).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la severidad, E[X]; la frecuencia, E[N], viene en la siguiente sesión.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de severidad que elijamos es el sustento técnico del producto.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201168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eq_pr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222" y="2468880"/>
            <a:ext cx="3845636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4290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E[X]  ·  después: E[N]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severidad como variable aleatoria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modelamos un promedio, modelamos toda la distribución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severidad X es el monto de un siniestro: X ≥ 0, continua y típicamente asimétrica a la derecha.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describimos con su densidad f(x) y su acumulada F(x) — no con un solo número.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carteras con la misma media pueden tener riesgos muy distintos: importa la forma completa.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78308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2237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que resumen la forma</a:t>
            </a:r>
            <a:endParaRPr lang="en-US" sz="1400" dirty="0"/>
          </a:p>
        </p:txBody>
      </p:sp>
      <p:pic>
        <p:nvPicPr>
          <p:cNvPr id="8" name="Image 0" descr="eq_mo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427" y="2514600"/>
            <a:ext cx="3387225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356616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dispersión relativa (σ respecto a la media).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γ₁ = asimetría: en daños casi siempre positiva (cola derecha).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lenguaje de la cola: supervivencia y riesgo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funciones dicen más que la media</a:t>
            </a:r>
            <a:endParaRPr lang="en-US" sz="1500" dirty="0"/>
          </a:p>
        </p:txBody>
      </p:sp>
      <p:pic>
        <p:nvPicPr>
          <p:cNvPr id="5" name="Image 0" descr="eq_sur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982661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S(x) = P(X &gt; x): la probabilidad de superar un monto x. Es la lupa para los siniestros grandes.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f(x)/S(x): el riesgo instantáneo — cómo 'envejece' el riesgo de un siniestro grande.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h(x) distingue a las distribuciones: constante, creciente, decreciente o con joroba.</a:t>
            </a:r>
            <a:endParaRPr lang="en-US" sz="1500" dirty="0"/>
          </a:p>
        </p:txBody>
      </p:sp>
      <p:pic>
        <p:nvPicPr>
          <p:cNvPr id="7" name="Image 1" descr="plot_haz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31720"/>
            <a:ext cx="4885202" cy="297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mapa de la familia — y por qué ese orden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más simple y cola ligera a la más realista y cola pesada</a:t>
            </a:r>
            <a:endParaRPr lang="en-US" sz="1500" dirty="0"/>
          </a:p>
        </p:txBody>
      </p:sp>
      <p:pic>
        <p:nvPicPr>
          <p:cNvPr id="5" name="Image 0" descr="plot_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5561615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792224"/>
            <a:ext cx="384048" cy="384048"/>
          </a:xfrm>
          <a:prstGeom prst="ellipse">
            <a:avLst/>
          </a:prstGeom>
          <a:solidFill>
            <a:srgbClr val="8FA0C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71780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Exponencial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78040" y="20482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simple: un parámetro, sin memoria.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75120" y="2688336"/>
            <a:ext cx="384048" cy="384048"/>
          </a:xfrm>
          <a:prstGeom prst="ellipse">
            <a:avLst/>
          </a:prstGeom>
          <a:solidFill>
            <a:srgbClr val="4C7FD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717804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78040" y="2944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la exponencial; cuerpo flexible.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75120" y="3584448"/>
            <a:ext cx="384048" cy="384048"/>
          </a:xfrm>
          <a:prstGeom prst="ellipse">
            <a:avLst/>
          </a:prstGeom>
          <a:solidFill>
            <a:srgbClr val="17A6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7178040" y="34838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Lognormal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780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natural; cola más pesada.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75120" y="4480560"/>
            <a:ext cx="384048" cy="384048"/>
          </a:xfrm>
          <a:prstGeom prst="ellipse">
            <a:avLst/>
          </a:prstGeom>
          <a:solidFill>
            <a:srgbClr val="E887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7178040" y="4379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Weibull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78040" y="4736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flexible; puente a extremos.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5120" y="5376672"/>
            <a:ext cx="384048" cy="384048"/>
          </a:xfrm>
          <a:prstGeom prst="ellipse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178040" y="5276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Pareto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78040" y="56327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pesada: los large losses.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8FA0C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Exponencial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83112" cy="1280160"/>
          </a:xfrm>
          <a:prstGeom prst="roundRect">
            <a:avLst>
              <a:gd name="adj" fmla="val 5714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eq_ex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160" y="1737360"/>
            <a:ext cx="725948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parámetro (λ). Es el punto de partida y el baseline contra el que se comparan las demás.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memoria: la probabilidad de un siniestro futuro no depende de lo ya transcurrido; hazard constante.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1 fijo: no puede ajustar la dispersión. Su cola es demasiado ligera.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corta: subestima los siniestros grandes → por eso seguimos. 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4C7FD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83112" cy="1280160"/>
          </a:xfrm>
          <a:prstGeom prst="roundRect">
            <a:avLst>
              <a:gd name="adj" fmla="val 5714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eq_ga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067" y="1737360"/>
            <a:ext cx="6483675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 parámetro de forma (α): con α = 1 recupera la exponencial; es una suma de exponenciales.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de la distribución se vuelve flexible: puede tener moda distinta de cero.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su cola sigue siendo esencialmente exponencial (ligera): aún no captura los extremos.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cuerpo, misma cola ligera. 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17A6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Lognormal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83112" cy="1280160"/>
          </a:xfrm>
          <a:prstGeom prst="roundRect">
            <a:avLst>
              <a:gd name="adj" fmla="val 5714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eq_lo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304" y="1737360"/>
            <a:ext cx="4637201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ln X es normal, X es lognormal: aparece cuando el monto resulta de efectos multiplicativos.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asimetría a la derecha de forma natural y una cola más pesada que la gamma.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caballo de batalla de la severidad en daños: buen punto medio entre realismo y simplicidad.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práctico para severidad. 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E887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Weibull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83112" cy="1280160"/>
          </a:xfrm>
          <a:prstGeom prst="roundRect">
            <a:avLst>
              <a:gd name="adj" fmla="val 5714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eq_we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331" y="1737360"/>
            <a:ext cx="5463146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parámetro de forma k controla el hazard: creciente (k &gt; 1), decreciente (k &lt; 1) o constante (k = 1).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k = 1 vuelve a ser exponencial; por eso es una familia muy versátil.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puente hacia la teoría de valores extremos: útil cuando el envejecimiento del riesgo importa.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en el hazard y en la cola. 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0504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Pareto — y los large losses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eq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88" y="1645920"/>
            <a:ext cx="4853065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pesada: una ley de potencias que decae lento. En log-log es casi una recta.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que pueden no existir: si α ≤ 1 la media es infinita; si α ≤ 2 la varianza es infinita.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puede estar dominada por unos pocos siniestros enormes: los large losses.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viven los catastróficos — y de aquí sale el reaseguro (T5).</a:t>
            </a:r>
            <a:endParaRPr lang="en-US" sz="1500" dirty="0"/>
          </a:p>
        </p:txBody>
      </p:sp>
      <p:pic>
        <p:nvPicPr>
          <p:cNvPr id="8" name="Image 1" descr="plot_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331720"/>
            <a:ext cx="4731847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5486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roja: cola de Pareto (la más pesada).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cola manda: qué pasa cuando cambia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media, distinta cola → cuantiles y prima muy distintos</a:t>
            </a:r>
            <a:endParaRPr lang="en-US" sz="1500" dirty="0"/>
          </a:p>
        </p:txBody>
      </p:sp>
      <p:pic>
        <p:nvPicPr>
          <p:cNvPr id="5" name="Image 0" descr="plot_vart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5035516" cy="3063240"/>
          </a:xfrm>
          <a:prstGeom prst="rect">
            <a:avLst/>
          </a:prstGeom>
        </p:spPr>
      </p:pic>
      <p:pic>
        <p:nvPicPr>
          <p:cNvPr id="6" name="Image 1" descr="eq_vartv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74520"/>
            <a:ext cx="4108232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2468880"/>
            <a:ext cx="5440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ajustes con la misma media difieren en la cola: su p99 (VaR) y su TVaR se separan.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cambia el precio: con límites, deducibles y reaseguro, la prima depende de la cola, no de la media.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distribución equivocada subestima (o encarece) el riesgo justo donde más duele.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Cuidado: todo esto es univariado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distribución para toda la cartera → la misma E[X] para todos</a:t>
            </a:r>
            <a:endParaRPr lang="en-US" sz="1500" dirty="0"/>
          </a:p>
        </p:txBody>
      </p:sp>
      <p:pic>
        <p:nvPicPr>
          <p:cNvPr id="5" name="Image 0" descr="plot_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5260987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1874520"/>
            <a:ext cx="5440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ajustamos una distribución a toda la cartera: implica la misma severidad esperada para cada póliza.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Cómodo, pero no del todo correcto: el riesgo es heterogéneo (no cuesta igual un auto de ciudad que de carretera).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 es condicionar por características: E[X | factores] con segmentación y GLM.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modelar la heterogeneidad con mezclas de distribuciones.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Otra mirada: incertidumbre en los parámetros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parámetros no se conocen — el enfoque bayesiano lo asume</a:t>
            </a:r>
            <a:endParaRPr lang="en-US" sz="1500" dirty="0"/>
          </a:p>
        </p:txBody>
      </p:sp>
      <p:pic>
        <p:nvPicPr>
          <p:cNvPr id="5" name="Image 0" descr="plot_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5035639" cy="3108960"/>
          </a:xfrm>
          <a:prstGeom prst="rect">
            <a:avLst/>
          </a:prstGeom>
        </p:spPr>
      </p:pic>
      <p:pic>
        <p:nvPicPr>
          <p:cNvPr id="6" name="Image 1" descr="eq_bay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20240"/>
            <a:ext cx="316286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2514600"/>
            <a:ext cx="5440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máxima verosimilitud entrega un punto; pero los parámetros son inciertos.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los trata como aleatorios: prior → datos → posterior (posterior ∝ verosimilitud × prior).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datos el posterior se concentra: la incertidumbre baja.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puente a la credibilidad: mezclar la experiencia propia con información previa del colectivo.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se elige en la práctica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1208" y="10058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la elección es sustento técnico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39312" cy="2468880"/>
          </a:xfrm>
          <a:prstGeom prst="roundRect">
            <a:avLst>
              <a:gd name="adj" fmla="val 2963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956816" y="2148840"/>
            <a:ext cx="731520" cy="731520"/>
          </a:xfrm>
          <a:prstGeom prst="ellipse">
            <a:avLst/>
          </a:prstGeom>
          <a:solidFill>
            <a:srgbClr val="17A6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956816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Ajustar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candidatas por máxima verosimilitud.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639312" cy="2468880"/>
          </a:xfrm>
          <a:prstGeom prst="roundRect">
            <a:avLst>
              <a:gd name="adj" fmla="val 2963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870448" y="2148840"/>
            <a:ext cx="731520" cy="731520"/>
          </a:xfrm>
          <a:prstGeom prst="ellipse">
            <a:avLst/>
          </a:prstGeom>
          <a:solidFill>
            <a:srgbClr val="4C7FD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870448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3017520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0872" y="3474720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objetivos (AIC): ajuste vs. parsimonia.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3639312" cy="2468880"/>
          </a:xfrm>
          <a:prstGeom prst="roundRect">
            <a:avLst>
              <a:gd name="adj" fmla="val 2963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9784080" y="2148840"/>
            <a:ext cx="731520" cy="731520"/>
          </a:xfrm>
          <a:prstGeom prst="ellipse">
            <a:avLst/>
          </a:prstGeom>
          <a:solidFill>
            <a:srgbClr val="E887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7840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017520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Mirar la cola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04504" y="3474720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densidad, QQ-plot y supervivencia: ahí se decide.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elegida sostiene el E[X] de la nota técnica; los estándares de práctica actuarial (CUSF) esperan esa elección justificada.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Sesión 1 — Severidad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 notebook y a la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el notebook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la familia y su cola, ajustamos por MLE, comparamos con AIC y medimos qué cambia en la cola (p99, TVaR).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720840" y="199339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Práctica A1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8346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las distribuciones a tu ramo, elige una y justifícala con la cola. Súbela a GitHub.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Frecuencia siniestral (T1.2) — Poisson, binomial negativa y el modelo de pérdida agregada.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1326</Words>
  <Application>Microsoft Office PowerPoint</Application>
  <PresentationFormat>Panorámica</PresentationFormat>
  <Paragraphs>142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 DANIEL HERNANDEZ JARDON</cp:lastModifiedBy>
  <cp:revision>2</cp:revision>
  <dcterms:created xsi:type="dcterms:W3CDTF">2026-08-14T18:54:25Z</dcterms:created>
  <dcterms:modified xsi:type="dcterms:W3CDTF">2026-08-14T19:55:15Z</dcterms:modified>
</cp:coreProperties>
</file>